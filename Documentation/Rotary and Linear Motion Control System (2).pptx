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IBM Plex Sans"/>
      <p:regular r:id="rId25"/>
      <p:bold r:id="rId26"/>
      <p:italic r:id="rId27"/>
      <p:boldItalic r:id="rId28"/>
    </p:embeddedFont>
    <p:embeddedFont>
      <p:font typeface="Sora SemiBold"/>
      <p:regular r:id="rId29"/>
      <p:bold r:id="rId30"/>
    </p:embeddedFont>
    <p:embeddedFont>
      <p:font typeface="IBM Plex Sans Medium"/>
      <p:regular r:id="rId31"/>
      <p:bold r:id="rId32"/>
      <p:italic r:id="rId33"/>
      <p:boldItalic r:id="rId34"/>
    </p:embeddedFont>
    <p:embeddedFont>
      <p:font typeface="Sora Light"/>
      <p:regular r:id="rId35"/>
      <p:bold r:id="rId36"/>
    </p:embeddedFont>
    <p:embeddedFont>
      <p:font typeface="Sora ExtraLight"/>
      <p:regular r:id="rId37"/>
      <p:bold r:id="rId38"/>
    </p:embeddedFont>
    <p:embeddedFont>
      <p:font typeface="Sora"/>
      <p:regular r:id="rId39"/>
      <p:bold r:id="rId40"/>
    </p:embeddedFont>
    <p:embeddedFont>
      <p:font typeface="Sora Medium"/>
      <p:regular r:id="rId41"/>
      <p:bold r:id="rId42"/>
    </p:embeddedFont>
    <p:embeddedFont>
      <p:font typeface="IBM Plex Sans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bold.fntdata"/><Relationship Id="rId42" Type="http://schemas.openxmlformats.org/officeDocument/2006/relationships/font" Target="fonts/SoraMedium-bold.fntdata"/><Relationship Id="rId41" Type="http://schemas.openxmlformats.org/officeDocument/2006/relationships/font" Target="fonts/SoraMedium-regular.fntdata"/><Relationship Id="rId44" Type="http://schemas.openxmlformats.org/officeDocument/2006/relationships/font" Target="fonts/IBMPlexSansSemiBold-bold.fntdata"/><Relationship Id="rId43" Type="http://schemas.openxmlformats.org/officeDocument/2006/relationships/font" Target="fonts/IBMPlexSansSemiBold-regular.fntdata"/><Relationship Id="rId46" Type="http://schemas.openxmlformats.org/officeDocument/2006/relationships/font" Target="fonts/IBMPlexSansSemiBold-boldItalic.fntdata"/><Relationship Id="rId45" Type="http://schemas.openxmlformats.org/officeDocument/2006/relationships/font" Target="fonts/IBMPlexSa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Medium-regular.fntdata"/><Relationship Id="rId30" Type="http://schemas.openxmlformats.org/officeDocument/2006/relationships/font" Target="fonts/SoraSemiBold-bold.fntdata"/><Relationship Id="rId33" Type="http://schemas.openxmlformats.org/officeDocument/2006/relationships/font" Target="fonts/IBMPlexSansMedium-italic.fntdata"/><Relationship Id="rId32" Type="http://schemas.openxmlformats.org/officeDocument/2006/relationships/font" Target="fonts/IBMPlexSansMedium-bold.fntdata"/><Relationship Id="rId35" Type="http://schemas.openxmlformats.org/officeDocument/2006/relationships/font" Target="fonts/SoraLight-regular.fntdata"/><Relationship Id="rId34" Type="http://schemas.openxmlformats.org/officeDocument/2006/relationships/font" Target="fonts/IBMPlexSansMedium-boldItalic.fntdata"/><Relationship Id="rId37" Type="http://schemas.openxmlformats.org/officeDocument/2006/relationships/font" Target="fonts/SoraExtraLight-regular.fntdata"/><Relationship Id="rId36" Type="http://schemas.openxmlformats.org/officeDocument/2006/relationships/font" Target="fonts/SoraLight-bold.fntdata"/><Relationship Id="rId39" Type="http://schemas.openxmlformats.org/officeDocument/2006/relationships/font" Target="fonts/Sora-regular.fntdata"/><Relationship Id="rId38" Type="http://schemas.openxmlformats.org/officeDocument/2006/relationships/font" Target="fonts/SoraExtraLigh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29" Type="http://schemas.openxmlformats.org/officeDocument/2006/relationships/font" Target="fonts/SoraSemiBold-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a3eaee4425_0_1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a3eaee4425_0_1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a3eaee4425_0_2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a3eaee4425_0_2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a3eaee4425_0_2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a3eaee4425_0_2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ae286e678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ae286e678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ae286e678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ae286e678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ae286e678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ae286e678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ae286e678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ae286e678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ae286e678c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ae286e678c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ae286e678c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ae286e678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ae286e678c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ae286e678c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ae286e678c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ae286e678c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ae286e678c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ae286e678c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ae286e678c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ae286e678c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ae286e678c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ae286e678c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ae286e678c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ae286e678c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ae286e678c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ae286e678c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e286e678c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ae286e678c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a3eaee4425_0_2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3a3eaee4425_0_2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hyperlink" Target="https://www.youtube.com/watch?v=_SYhCRwacDs" TargetMode="External"/><Relationship Id="rId4" Type="http://schemas.openxmlformats.org/officeDocument/2006/relationships/hyperlink" Target="https://www.youtube.com/watch?v=_SYhCRwacDs" TargetMode="External"/><Relationship Id="rId9" Type="http://schemas.openxmlformats.org/officeDocument/2006/relationships/hyperlink" Target="https://www.cjsmachineandfab.com/custom-brackets" TargetMode="External"/><Relationship Id="rId5" Type="http://schemas.openxmlformats.org/officeDocument/2006/relationships/hyperlink" Target="https://www.baldor.com/mvc/DownloadCenter/Files/9AKK107304?utm_source=chatgpt.com" TargetMode="External"/><Relationship Id="rId6" Type="http://schemas.openxmlformats.org/officeDocument/2006/relationships/hyperlink" Target="https://www.baldor.com/mvc/DownloadCenter/Files/9AKK107304" TargetMode="External"/><Relationship Id="rId7" Type="http://schemas.openxmlformats.org/officeDocument/2006/relationships/hyperlink" Target="https://resources.wolframcloud.com/FormulaRepository/resources/Moment-of-Inertia-of-a-Cylinder?utm_source=chatgpt.com" TargetMode="External"/><Relationship Id="rId8" Type="http://schemas.openxmlformats.org/officeDocument/2006/relationships/hyperlink" Target="https://resources.wolframcloud.com/FormulaRepository/resources/Moment-of-Inertia-of-a-Cylinder?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138475" y="228600"/>
            <a:ext cx="12327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Josiah Germain</a:t>
            </a:r>
            <a:endParaRPr>
              <a:latin typeface="Sora"/>
              <a:ea typeface="Sora"/>
              <a:cs typeface="Sora"/>
              <a:sym typeface="Sora"/>
            </a:endParaRPr>
          </a:p>
        </p:txBody>
      </p:sp>
      <p:sp>
        <p:nvSpPr>
          <p:cNvPr id="934" name="Google Shape;934;p63"/>
          <p:cNvSpPr txBox="1"/>
          <p:nvPr>
            <p:ph type="title"/>
          </p:nvPr>
        </p:nvSpPr>
        <p:spPr>
          <a:xfrm>
            <a:off x="74600" y="2891050"/>
            <a:ext cx="61920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Rotary and Linear Motion Control System</a:t>
            </a:r>
            <a:endParaRPr>
              <a:solidFill>
                <a:schemeClr val="dk2"/>
              </a:solidFill>
            </a:endParaRPr>
          </a:p>
        </p:txBody>
      </p:sp>
      <p:sp>
        <p:nvSpPr>
          <p:cNvPr id="935" name="Google Shape;935;p6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ECE 4115 - Automatic Control Systems Laboratory</a:t>
            </a:r>
            <a:endParaRPr>
              <a:latin typeface="Sora"/>
              <a:ea typeface="Sora"/>
              <a:cs typeface="Sora"/>
              <a:sym typeface="Sora"/>
            </a:endParaRPr>
          </a:p>
          <a:p>
            <a:pPr indent="0" lvl="0" marL="0" rtl="0" algn="l">
              <a:spcBef>
                <a:spcPts val="0"/>
              </a:spcBef>
              <a:spcAft>
                <a:spcPts val="0"/>
              </a:spcAft>
              <a:buNone/>
            </a:pPr>
            <a:r>
              <a:rPr lang="en">
                <a:latin typeface="Sora"/>
                <a:ea typeface="Sora"/>
                <a:cs typeface="Sora"/>
                <a:sym typeface="Sora"/>
              </a:rPr>
              <a:t>12/3/2025</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4"/>
          <p:cNvSpPr txBox="1"/>
          <p:nvPr>
            <p:ph type="title"/>
          </p:nvPr>
        </p:nvSpPr>
        <p:spPr>
          <a:xfrm>
            <a:off x="96025" y="896450"/>
            <a:ext cx="6507000" cy="7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a:t>
            </a:r>
            <a:endParaRPr/>
          </a:p>
        </p:txBody>
      </p:sp>
      <p:sp>
        <p:nvSpPr>
          <p:cNvPr id="941" name="Google Shape;941;p64"/>
          <p:cNvSpPr txBox="1"/>
          <p:nvPr/>
        </p:nvSpPr>
        <p:spPr>
          <a:xfrm>
            <a:off x="96025" y="1895400"/>
            <a:ext cx="52875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a:t>
            </a:r>
            <a:endParaRPr sz="1200">
              <a:solidFill>
                <a:schemeClr val="lt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65"/>
          <p:cNvSpPr txBox="1"/>
          <p:nvPr>
            <p:ph idx="2" type="title"/>
          </p:nvPr>
        </p:nvSpPr>
        <p:spPr>
          <a:xfrm>
            <a:off x="244200" y="228600"/>
            <a:ext cx="4171200" cy="6312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sz="3600"/>
              <a:t>Introduction</a:t>
            </a:r>
            <a:endParaRPr sz="3600"/>
          </a:p>
        </p:txBody>
      </p:sp>
      <p:pic>
        <p:nvPicPr>
          <p:cNvPr id="947" name="Google Shape;947;p65" title="Screenshot 2025-12-03 003424.png"/>
          <p:cNvPicPr preferRelativeResize="0"/>
          <p:nvPr/>
        </p:nvPicPr>
        <p:blipFill>
          <a:blip r:embed="rId3">
            <a:alphaModFix/>
          </a:blip>
          <a:stretch>
            <a:fillRect/>
          </a:stretch>
        </p:blipFill>
        <p:spPr>
          <a:xfrm>
            <a:off x="4244925" y="228600"/>
            <a:ext cx="4718700" cy="29103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948" name="Google Shape;948;p65"/>
          <p:cNvSpPr txBox="1"/>
          <p:nvPr/>
        </p:nvSpPr>
        <p:spPr>
          <a:xfrm>
            <a:off x="228600" y="754875"/>
            <a:ext cx="3975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The objective is to create an automatic control system for the purpose of guiding a slit through a rotating wheel. Simulations to confirm design are needed along with proper documentation.</a:t>
            </a:r>
            <a:endParaRPr sz="1200">
              <a:solidFill>
                <a:schemeClr val="lt1"/>
              </a:solidFill>
              <a:latin typeface="Sora"/>
              <a:ea typeface="Sora"/>
              <a:cs typeface="Sora"/>
              <a:sym typeface="Sora"/>
            </a:endParaRPr>
          </a:p>
        </p:txBody>
      </p:sp>
      <p:sp>
        <p:nvSpPr>
          <p:cNvPr id="949" name="Google Shape;949;p65"/>
          <p:cNvSpPr txBox="1"/>
          <p:nvPr/>
        </p:nvSpPr>
        <p:spPr>
          <a:xfrm>
            <a:off x="228600" y="1895400"/>
            <a:ext cx="4536900" cy="203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chemeClr val="lt1"/>
                </a:solidFill>
                <a:latin typeface="Sora"/>
                <a:ea typeface="Sora"/>
                <a:cs typeface="Sora"/>
                <a:sym typeface="Sora"/>
              </a:rPr>
              <a:t>Key principles:</a:t>
            </a:r>
            <a:endParaRPr b="1"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Position and velocity control</a:t>
            </a:r>
            <a:endParaRPr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Angular to linear motion conversion</a:t>
            </a:r>
            <a:endParaRPr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Part selection</a:t>
            </a:r>
            <a:endParaRPr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PID/PD feedback control and tuning</a:t>
            </a:r>
            <a:endParaRPr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Developing transfer functions for motors</a:t>
            </a:r>
            <a:endParaRPr sz="1200">
              <a:solidFill>
                <a:schemeClr val="lt1"/>
              </a:solidFill>
              <a:latin typeface="Sora"/>
              <a:ea typeface="Sora"/>
              <a:cs typeface="Sora"/>
              <a:sym typeface="Sora"/>
            </a:endParaRPr>
          </a:p>
          <a:p>
            <a:pPr indent="-304800" lvl="0" marL="457200" rtl="0" algn="l">
              <a:lnSpc>
                <a:spcPct val="150000"/>
              </a:lnSpc>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Simulations to verify design accuracy and timing</a:t>
            </a:r>
            <a:endParaRPr sz="1200">
              <a:solidFill>
                <a:schemeClr val="lt1"/>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66"/>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55" name="Google Shape;955;p66"/>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IBM Plex Sans Medium"/>
                <a:ea typeface="IBM Plex Sans Medium"/>
                <a:cs typeface="IBM Plex Sans Medium"/>
                <a:sym typeface="IBM Plex Sans Medium"/>
              </a:rPr>
              <a:t>1</a:t>
            </a:r>
            <a:endParaRPr>
              <a:latin typeface="IBM Plex Sans Medium"/>
              <a:ea typeface="IBM Plex Sans Medium"/>
              <a:cs typeface="IBM Plex Sans Medium"/>
              <a:sym typeface="IBM Plex Sans Medium"/>
            </a:endParaRPr>
          </a:p>
          <a:p>
            <a:pPr indent="0" lvl="0" marL="0" rtl="0" algn="l">
              <a:lnSpc>
                <a:spcPct val="100000"/>
              </a:lnSpc>
              <a:spcBef>
                <a:spcPts val="600"/>
              </a:spcBef>
              <a:spcAft>
                <a:spcPts val="0"/>
              </a:spcAft>
              <a:buNone/>
            </a:pPr>
            <a:r>
              <a:rPr lang="en" sz="1000"/>
              <a:t>Select components to meet system requirements.</a:t>
            </a:r>
            <a:endParaRPr sz="1000"/>
          </a:p>
          <a:p>
            <a:pPr indent="0" lvl="0" marL="0" rtl="0" algn="l">
              <a:spcBef>
                <a:spcPts val="600"/>
              </a:spcBef>
              <a:spcAft>
                <a:spcPts val="600"/>
              </a:spcAft>
              <a:buNone/>
            </a:pPr>
            <a:r>
              <a:t/>
            </a:r>
            <a:endParaRPr sz="1000"/>
          </a:p>
        </p:txBody>
      </p:sp>
      <p:sp>
        <p:nvSpPr>
          <p:cNvPr id="956" name="Google Shape;956;p66"/>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IBM Plex Sans Medium"/>
                <a:ea typeface="IBM Plex Sans Medium"/>
                <a:cs typeface="IBM Plex Sans Medium"/>
                <a:sym typeface="IBM Plex Sans Medium"/>
              </a:rPr>
              <a:t>4</a:t>
            </a:r>
            <a:endParaRPr>
              <a:latin typeface="IBM Plex Sans Medium"/>
              <a:ea typeface="IBM Plex Sans Medium"/>
              <a:cs typeface="IBM Plex Sans Medium"/>
              <a:sym typeface="IBM Plex Sans Medium"/>
            </a:endParaRPr>
          </a:p>
          <a:p>
            <a:pPr indent="0" lvl="0" marL="0" rtl="0" algn="l">
              <a:lnSpc>
                <a:spcPct val="100000"/>
              </a:lnSpc>
              <a:spcBef>
                <a:spcPts val="600"/>
              </a:spcBef>
              <a:spcAft>
                <a:spcPts val="600"/>
              </a:spcAft>
              <a:buNone/>
            </a:pPr>
            <a:r>
              <a:rPr lang="en" sz="1000"/>
              <a:t>Design control system with PID for timing control and ensuring the cart stops after passing the wheel.</a:t>
            </a:r>
            <a:endParaRPr sz="1000"/>
          </a:p>
        </p:txBody>
      </p:sp>
      <p:sp>
        <p:nvSpPr>
          <p:cNvPr id="957" name="Google Shape;957;p66"/>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Sora Medium"/>
                <a:ea typeface="Sora Medium"/>
                <a:cs typeface="Sora Medium"/>
                <a:sym typeface="Sora Medium"/>
              </a:rPr>
              <a:t>5</a:t>
            </a:r>
            <a:endParaRPr/>
          </a:p>
          <a:p>
            <a:pPr indent="0" lvl="0" marL="0" rtl="0" algn="l">
              <a:lnSpc>
                <a:spcPct val="100000"/>
              </a:lnSpc>
              <a:spcBef>
                <a:spcPts val="0"/>
              </a:spcBef>
              <a:spcAft>
                <a:spcPts val="0"/>
              </a:spcAft>
              <a:buNone/>
            </a:pPr>
            <a:r>
              <a:rPr lang="en" sz="1000"/>
              <a:t>Verify design with simulations and observations from produced graphs.</a:t>
            </a:r>
            <a:endParaRPr sz="1000"/>
          </a:p>
        </p:txBody>
      </p:sp>
      <p:sp>
        <p:nvSpPr>
          <p:cNvPr id="958" name="Google Shape;958;p66"/>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IBM Plex Sans Medium"/>
                <a:ea typeface="IBM Plex Sans Medium"/>
                <a:cs typeface="IBM Plex Sans Medium"/>
                <a:sym typeface="IBM Plex Sans Medium"/>
              </a:rPr>
              <a:t>6</a:t>
            </a:r>
            <a:endParaRPr>
              <a:latin typeface="IBM Plex Sans Medium"/>
              <a:ea typeface="IBM Plex Sans Medium"/>
              <a:cs typeface="IBM Plex Sans Medium"/>
              <a:sym typeface="IBM Plex Sans Medium"/>
            </a:endParaRPr>
          </a:p>
          <a:p>
            <a:pPr indent="0" lvl="0" marL="0" rtl="0" algn="l">
              <a:lnSpc>
                <a:spcPct val="100000"/>
              </a:lnSpc>
              <a:spcBef>
                <a:spcPts val="600"/>
              </a:spcBef>
              <a:spcAft>
                <a:spcPts val="600"/>
              </a:spcAft>
              <a:buNone/>
            </a:pPr>
            <a:r>
              <a:rPr lang="en" sz="1000"/>
              <a:t>Document process  and display results in slides.</a:t>
            </a:r>
            <a:endParaRPr sz="1000"/>
          </a:p>
        </p:txBody>
      </p:sp>
      <p:sp>
        <p:nvSpPr>
          <p:cNvPr id="959" name="Google Shape;959;p66"/>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Sora Medium"/>
                <a:ea typeface="Sora Medium"/>
                <a:cs typeface="Sora Medium"/>
                <a:sym typeface="Sora Medium"/>
              </a:rPr>
              <a:t>2</a:t>
            </a:r>
            <a:endParaRPr>
              <a:latin typeface="Sora Medium"/>
              <a:ea typeface="Sora Medium"/>
              <a:cs typeface="Sora Medium"/>
              <a:sym typeface="Sora Medium"/>
            </a:endParaRPr>
          </a:p>
          <a:p>
            <a:pPr indent="0" lvl="0" marL="0" rtl="0" algn="l">
              <a:lnSpc>
                <a:spcPct val="100000"/>
              </a:lnSpc>
              <a:spcBef>
                <a:spcPts val="600"/>
              </a:spcBef>
              <a:spcAft>
                <a:spcPts val="600"/>
              </a:spcAft>
              <a:buNone/>
            </a:pPr>
            <a:r>
              <a:rPr lang="en" sz="1000"/>
              <a:t>Model servo motors mathematically accounting for mechanical and electrical properties.</a:t>
            </a:r>
            <a:endParaRPr sz="1000"/>
          </a:p>
        </p:txBody>
      </p:sp>
      <p:sp>
        <p:nvSpPr>
          <p:cNvPr id="960" name="Google Shape;960;p66"/>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Sora Medium"/>
                <a:ea typeface="Sora Medium"/>
                <a:cs typeface="Sora Medium"/>
                <a:sym typeface="Sora Medium"/>
              </a:rPr>
              <a:t>3</a:t>
            </a:r>
            <a:endParaRPr>
              <a:latin typeface="Sora Medium"/>
              <a:ea typeface="Sora Medium"/>
              <a:cs typeface="Sora Medium"/>
              <a:sym typeface="Sora Medium"/>
            </a:endParaRPr>
          </a:p>
          <a:p>
            <a:pPr indent="0" lvl="0" marL="0" rtl="0" algn="l">
              <a:lnSpc>
                <a:spcPct val="100000"/>
              </a:lnSpc>
              <a:spcBef>
                <a:spcPts val="600"/>
              </a:spcBef>
              <a:spcAft>
                <a:spcPts val="600"/>
              </a:spcAft>
              <a:buNone/>
            </a:pPr>
            <a:r>
              <a:rPr lang="en" sz="1000"/>
              <a:t>Convert angular motion to linear motion to determine the cart’s velocity from the wheel’s velocity.</a:t>
            </a:r>
            <a:endParaRPr sz="1000"/>
          </a:p>
        </p:txBody>
      </p:sp>
      <p:sp>
        <p:nvSpPr>
          <p:cNvPr id="961" name="Google Shape;961;p66"/>
          <p:cNvSpPr txBox="1"/>
          <p:nvPr>
            <p:ph idx="2" type="title"/>
          </p:nvPr>
        </p:nvSpPr>
        <p:spPr>
          <a:xfrm>
            <a:off x="228600" y="228600"/>
            <a:ext cx="5400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Objectives</a:t>
            </a:r>
            <a:endParaRPr/>
          </a:p>
        </p:txBody>
      </p:sp>
      <p:sp>
        <p:nvSpPr>
          <p:cNvPr id="962" name="Google Shape;962;p66"/>
          <p:cNvSpPr/>
          <p:nvPr/>
        </p:nvSpPr>
        <p:spPr>
          <a:xfrm>
            <a:off x="750" y="2943425"/>
            <a:ext cx="1669500" cy="3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3" name="Google Shape;963;p66"/>
          <p:cNvSpPr/>
          <p:nvPr/>
        </p:nvSpPr>
        <p:spPr>
          <a:xfrm>
            <a:off x="1713600" y="2556600"/>
            <a:ext cx="1395000" cy="3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4" name="Google Shape;964;p66"/>
          <p:cNvSpPr/>
          <p:nvPr/>
        </p:nvSpPr>
        <p:spPr>
          <a:xfrm>
            <a:off x="3151800" y="2273950"/>
            <a:ext cx="1395000" cy="3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5" name="Google Shape;965;p66"/>
          <p:cNvSpPr/>
          <p:nvPr/>
        </p:nvSpPr>
        <p:spPr>
          <a:xfrm>
            <a:off x="4593600" y="1960500"/>
            <a:ext cx="1395000" cy="3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6" name="Google Shape;966;p66"/>
          <p:cNvSpPr/>
          <p:nvPr/>
        </p:nvSpPr>
        <p:spPr>
          <a:xfrm>
            <a:off x="6028350" y="1616400"/>
            <a:ext cx="1395000" cy="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7" name="Google Shape;967;p66"/>
          <p:cNvSpPr/>
          <p:nvPr/>
        </p:nvSpPr>
        <p:spPr>
          <a:xfrm>
            <a:off x="7473750" y="1245250"/>
            <a:ext cx="1669500" cy="3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73" name="Google Shape;973;p67"/>
          <p:cNvSpPr txBox="1"/>
          <p:nvPr>
            <p:ph idx="3" type="title"/>
          </p:nvPr>
        </p:nvSpPr>
        <p:spPr>
          <a:xfrm>
            <a:off x="115025" y="1904100"/>
            <a:ext cx="1834500" cy="477300"/>
          </a:xfrm>
          <a:prstGeom prst="rect">
            <a:avLst/>
          </a:prstGeom>
        </p:spPr>
        <p:txBody>
          <a:bodyPr anchorCtr="0" anchor="t" bIns="91425" lIns="91425" spcFirstLastPara="1" rIns="91425" wrap="square" tIns="0">
            <a:noAutofit/>
          </a:bodyPr>
          <a:lstStyle/>
          <a:p>
            <a:pPr indent="0" lvl="0" marL="0" marR="0" rtl="0" algn="l">
              <a:lnSpc>
                <a:spcPct val="90000"/>
              </a:lnSpc>
              <a:spcBef>
                <a:spcPts val="0"/>
              </a:spcBef>
              <a:spcAft>
                <a:spcPts val="0"/>
              </a:spcAft>
              <a:buNone/>
            </a:pPr>
            <a:r>
              <a:rPr lang="en" sz="2000"/>
              <a:t>Hardware:</a:t>
            </a:r>
            <a:endParaRPr sz="2000"/>
          </a:p>
        </p:txBody>
      </p:sp>
      <p:sp>
        <p:nvSpPr>
          <p:cNvPr id="974" name="Google Shape;974;p67"/>
          <p:cNvSpPr txBox="1"/>
          <p:nvPr>
            <p:ph idx="2" type="title"/>
          </p:nvPr>
        </p:nvSpPr>
        <p:spPr>
          <a:xfrm>
            <a:off x="115025" y="502775"/>
            <a:ext cx="3090300" cy="118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Materials and </a:t>
            </a:r>
            <a:endParaRPr/>
          </a:p>
          <a:p>
            <a:pPr indent="0" lvl="0" marL="0" rtl="0" algn="l">
              <a:spcBef>
                <a:spcPts val="0"/>
              </a:spcBef>
              <a:spcAft>
                <a:spcPts val="0"/>
              </a:spcAft>
              <a:buNone/>
            </a:pPr>
            <a:r>
              <a:rPr lang="en"/>
              <a:t>Components</a:t>
            </a:r>
            <a:endParaRPr/>
          </a:p>
        </p:txBody>
      </p:sp>
      <p:sp>
        <p:nvSpPr>
          <p:cNvPr id="975" name="Google Shape;975;p67"/>
          <p:cNvSpPr txBox="1"/>
          <p:nvPr>
            <p:ph idx="4" type="title"/>
          </p:nvPr>
        </p:nvSpPr>
        <p:spPr>
          <a:xfrm>
            <a:off x="228600" y="365665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2000"/>
              <a:t>Software:</a:t>
            </a:r>
            <a:endParaRPr sz="2000"/>
          </a:p>
        </p:txBody>
      </p:sp>
      <p:sp>
        <p:nvSpPr>
          <p:cNvPr id="976" name="Google Shape;976;p67"/>
          <p:cNvSpPr txBox="1"/>
          <p:nvPr/>
        </p:nvSpPr>
        <p:spPr>
          <a:xfrm>
            <a:off x="115025" y="2250825"/>
            <a:ext cx="4457100" cy="121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2x Rotary servo motor (HDS80-0309A from ABB)</a:t>
            </a:r>
            <a:endParaRPr sz="1200">
              <a:solidFill>
                <a:schemeClr val="dk1"/>
              </a:solidFill>
              <a:latin typeface="Sora"/>
              <a:ea typeface="Sora"/>
              <a:cs typeface="Sora"/>
              <a:sym typeface="Sora"/>
            </a:endParaRPr>
          </a:p>
          <a:p>
            <a:pPr indent="-304800" lvl="0" marL="457200" rtl="0" algn="l">
              <a:lnSpc>
                <a:spcPct val="115000"/>
              </a:lnSpc>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Belt driven linear actuator (V-Slot NEMA 17 from OpenBuilds)</a:t>
            </a:r>
            <a:endParaRPr sz="1200">
              <a:solidFill>
                <a:schemeClr val="dk1"/>
              </a:solidFill>
              <a:latin typeface="Sora"/>
              <a:ea typeface="Sora"/>
              <a:cs typeface="Sora"/>
              <a:sym typeface="Sora"/>
            </a:endParaRPr>
          </a:p>
          <a:p>
            <a:pPr indent="-304800" lvl="0" marL="457200" rtl="0" algn="l">
              <a:lnSpc>
                <a:spcPct val="115000"/>
              </a:lnSpc>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Mount for wheel can be produced by CJ’s Fabrication</a:t>
            </a:r>
            <a:endParaRPr sz="1200">
              <a:solidFill>
                <a:schemeClr val="dk1"/>
              </a:solidFill>
              <a:latin typeface="Sora"/>
              <a:ea typeface="Sora"/>
              <a:cs typeface="Sora"/>
              <a:sym typeface="Sora"/>
            </a:endParaRPr>
          </a:p>
        </p:txBody>
      </p:sp>
      <p:sp>
        <p:nvSpPr>
          <p:cNvPr id="977" name="Google Shape;977;p67"/>
          <p:cNvSpPr txBox="1"/>
          <p:nvPr/>
        </p:nvSpPr>
        <p:spPr>
          <a:xfrm>
            <a:off x="228600" y="4035775"/>
            <a:ext cx="30903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Matlab/Simulink</a:t>
            </a:r>
            <a:endParaRPr sz="1200">
              <a:solidFill>
                <a:schemeClr val="dk1"/>
              </a:solidFill>
              <a:latin typeface="Sora"/>
              <a:ea typeface="Sora"/>
              <a:cs typeface="Sora"/>
              <a:sym typeface="Sora"/>
            </a:endParaRPr>
          </a:p>
        </p:txBody>
      </p:sp>
      <p:cxnSp>
        <p:nvCxnSpPr>
          <p:cNvPr id="978" name="Google Shape;978;p67"/>
          <p:cNvCxnSpPr/>
          <p:nvPr/>
        </p:nvCxnSpPr>
        <p:spPr>
          <a:xfrm flipH="1" rot="10800000">
            <a:off x="228600" y="3609013"/>
            <a:ext cx="4417500" cy="2400"/>
          </a:xfrm>
          <a:prstGeom prst="straightConnector1">
            <a:avLst/>
          </a:prstGeom>
          <a:noFill/>
          <a:ln cap="flat" cmpd="sng" w="9525">
            <a:solidFill>
              <a:schemeClr val="dk2"/>
            </a:solidFill>
            <a:prstDash val="solid"/>
            <a:round/>
            <a:headEnd len="med" w="med" type="none"/>
            <a:tailEnd len="med" w="med" type="none"/>
          </a:ln>
        </p:spPr>
      </p:cxnSp>
      <p:pic>
        <p:nvPicPr>
          <p:cNvPr id="979" name="Google Shape;979;p67" title="Labeled Diagram_Controls project-1.png"/>
          <p:cNvPicPr preferRelativeResize="0"/>
          <p:nvPr/>
        </p:nvPicPr>
        <p:blipFill>
          <a:blip r:embed="rId3">
            <a:alphaModFix/>
          </a:blip>
          <a:stretch>
            <a:fillRect/>
          </a:stretch>
        </p:blipFill>
        <p:spPr>
          <a:xfrm>
            <a:off x="4735100" y="188250"/>
            <a:ext cx="4267200" cy="23835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68"/>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Step 1</a:t>
            </a:r>
            <a:endParaRPr>
              <a:latin typeface="IBM Plex Sans Medium"/>
              <a:ea typeface="IBM Plex Sans Medium"/>
              <a:cs typeface="IBM Plex Sans Medium"/>
              <a:sym typeface="IBM Plex Sans Medium"/>
            </a:endParaRPr>
          </a:p>
          <a:p>
            <a:pPr indent="0" lvl="0" marL="0" rtl="0" algn="l">
              <a:spcBef>
                <a:spcPts val="600"/>
              </a:spcBef>
              <a:spcAft>
                <a:spcPts val="600"/>
              </a:spcAft>
              <a:buNone/>
            </a:pPr>
            <a:r>
              <a:rPr lang="en" sz="1000"/>
              <a:t>Extract mechanical and electrical parameters from motor.</a:t>
            </a:r>
            <a:endParaRPr sz="1000"/>
          </a:p>
        </p:txBody>
      </p:sp>
      <p:sp>
        <p:nvSpPr>
          <p:cNvPr id="985" name="Google Shape;985;p68"/>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Step 4</a:t>
            </a:r>
            <a:endParaRPr>
              <a:latin typeface="IBM Plex Sans Medium"/>
              <a:ea typeface="IBM Plex Sans Medium"/>
              <a:cs typeface="IBM Plex Sans Medium"/>
              <a:sym typeface="IBM Plex Sans Medium"/>
            </a:endParaRPr>
          </a:p>
          <a:p>
            <a:pPr indent="0" lvl="0" marL="0" rtl="0" algn="l">
              <a:spcBef>
                <a:spcPts val="600"/>
              </a:spcBef>
              <a:spcAft>
                <a:spcPts val="600"/>
              </a:spcAft>
              <a:buNone/>
            </a:pPr>
            <a:r>
              <a:rPr lang="en" sz="1000"/>
              <a:t>Design the control system in simulink with PID/PD feedback control.</a:t>
            </a:r>
            <a:endParaRPr sz="1000"/>
          </a:p>
        </p:txBody>
      </p:sp>
      <p:sp>
        <p:nvSpPr>
          <p:cNvPr id="986" name="Google Shape;986;p68"/>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ra Medium"/>
                <a:ea typeface="Sora Medium"/>
                <a:cs typeface="Sora Medium"/>
                <a:sym typeface="Sora Medium"/>
              </a:rPr>
              <a:t>Step 5</a:t>
            </a:r>
            <a:endParaRPr>
              <a:latin typeface="Sora Medium"/>
              <a:ea typeface="Sora Medium"/>
              <a:cs typeface="Sora Medium"/>
              <a:sym typeface="Sora Medium"/>
            </a:endParaRPr>
          </a:p>
          <a:p>
            <a:pPr indent="0" lvl="0" marL="0" rtl="0" algn="l">
              <a:spcBef>
                <a:spcPts val="0"/>
              </a:spcBef>
              <a:spcAft>
                <a:spcPts val="0"/>
              </a:spcAft>
              <a:buNone/>
            </a:pPr>
            <a:r>
              <a:rPr lang="en" sz="1000"/>
              <a:t>Tune the PID/PD to ensure accurate timing and stopping distance.</a:t>
            </a:r>
            <a:endParaRPr sz="1000"/>
          </a:p>
        </p:txBody>
      </p:sp>
      <p:sp>
        <p:nvSpPr>
          <p:cNvPr id="987" name="Google Shape;987;p68"/>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Step 6</a:t>
            </a:r>
            <a:endParaRPr>
              <a:latin typeface="IBM Plex Sans Medium"/>
              <a:ea typeface="IBM Plex Sans Medium"/>
              <a:cs typeface="IBM Plex Sans Medium"/>
              <a:sym typeface="IBM Plex Sans Medium"/>
            </a:endParaRPr>
          </a:p>
          <a:p>
            <a:pPr indent="0" lvl="0" marL="0" rtl="0" algn="l">
              <a:spcBef>
                <a:spcPts val="600"/>
              </a:spcBef>
              <a:spcAft>
                <a:spcPts val="600"/>
              </a:spcAft>
              <a:buNone/>
            </a:pPr>
            <a:r>
              <a:rPr lang="en" sz="1000"/>
              <a:t>Simulate, evaluate accuracy and refine the design.</a:t>
            </a:r>
            <a:endParaRPr sz="1000"/>
          </a:p>
        </p:txBody>
      </p:sp>
      <p:sp>
        <p:nvSpPr>
          <p:cNvPr id="988" name="Google Shape;988;p68"/>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Medium"/>
                <a:ea typeface="Sora Medium"/>
                <a:cs typeface="Sora Medium"/>
                <a:sym typeface="Sora Medium"/>
              </a:rPr>
              <a:t>Step 2</a:t>
            </a:r>
            <a:endParaRPr>
              <a:latin typeface="Sora Medium"/>
              <a:ea typeface="Sora Medium"/>
              <a:cs typeface="Sora Medium"/>
              <a:sym typeface="Sora Medium"/>
            </a:endParaRPr>
          </a:p>
          <a:p>
            <a:pPr indent="0" lvl="0" marL="0" rtl="0" algn="l">
              <a:spcBef>
                <a:spcPts val="600"/>
              </a:spcBef>
              <a:spcAft>
                <a:spcPts val="600"/>
              </a:spcAft>
              <a:buNone/>
            </a:pPr>
            <a:r>
              <a:rPr lang="en" sz="1000"/>
              <a:t>Derive the transfer function for the motor.</a:t>
            </a:r>
            <a:endParaRPr sz="1000"/>
          </a:p>
        </p:txBody>
      </p:sp>
      <p:sp>
        <p:nvSpPr>
          <p:cNvPr id="989" name="Google Shape;989;p68"/>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ra Medium"/>
                <a:ea typeface="Sora Medium"/>
                <a:cs typeface="Sora Medium"/>
                <a:sym typeface="Sora Medium"/>
              </a:rPr>
              <a:t>Step 3</a:t>
            </a:r>
            <a:endParaRPr>
              <a:latin typeface="Sora Medium"/>
              <a:ea typeface="Sora Medium"/>
              <a:cs typeface="Sora Medium"/>
              <a:sym typeface="Sora Medium"/>
            </a:endParaRPr>
          </a:p>
          <a:p>
            <a:pPr indent="0" lvl="0" marL="0" rtl="0" algn="l">
              <a:spcBef>
                <a:spcPts val="600"/>
              </a:spcBef>
              <a:spcAft>
                <a:spcPts val="600"/>
              </a:spcAft>
              <a:buNone/>
            </a:pPr>
            <a:r>
              <a:rPr lang="en" sz="1000"/>
              <a:t>Develop a timing solution and method to stop cart.</a:t>
            </a:r>
            <a:endParaRPr sz="1000"/>
          </a:p>
        </p:txBody>
      </p:sp>
      <p:sp>
        <p:nvSpPr>
          <p:cNvPr id="990" name="Google Shape;990;p68"/>
          <p:cNvSpPr txBox="1"/>
          <p:nvPr>
            <p:ph idx="2" type="title"/>
          </p:nvPr>
        </p:nvSpPr>
        <p:spPr>
          <a:xfrm>
            <a:off x="146775" y="228600"/>
            <a:ext cx="5400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Project roadmap</a:t>
            </a:r>
            <a:endParaRPr/>
          </a:p>
        </p:txBody>
      </p:sp>
      <p:sp>
        <p:nvSpPr>
          <p:cNvPr id="991" name="Google Shape;991;p68"/>
          <p:cNvSpPr/>
          <p:nvPr/>
        </p:nvSpPr>
        <p:spPr>
          <a:xfrm>
            <a:off x="750" y="2943425"/>
            <a:ext cx="1669500" cy="3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2" name="Google Shape;992;p68"/>
          <p:cNvSpPr/>
          <p:nvPr/>
        </p:nvSpPr>
        <p:spPr>
          <a:xfrm>
            <a:off x="1713600" y="2556600"/>
            <a:ext cx="1395000" cy="3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3" name="Google Shape;993;p68"/>
          <p:cNvSpPr/>
          <p:nvPr/>
        </p:nvSpPr>
        <p:spPr>
          <a:xfrm>
            <a:off x="3151800" y="2273950"/>
            <a:ext cx="1395000" cy="3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4" name="Google Shape;994;p68"/>
          <p:cNvSpPr/>
          <p:nvPr/>
        </p:nvSpPr>
        <p:spPr>
          <a:xfrm>
            <a:off x="4593600" y="1960500"/>
            <a:ext cx="1395000" cy="3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5" name="Google Shape;995;p68"/>
          <p:cNvSpPr/>
          <p:nvPr/>
        </p:nvSpPr>
        <p:spPr>
          <a:xfrm>
            <a:off x="6028350" y="1616400"/>
            <a:ext cx="1395000" cy="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6" name="Google Shape;996;p68"/>
          <p:cNvSpPr/>
          <p:nvPr/>
        </p:nvSpPr>
        <p:spPr>
          <a:xfrm>
            <a:off x="7473750" y="1245250"/>
            <a:ext cx="1669500" cy="3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69"/>
          <p:cNvSpPr txBox="1"/>
          <p:nvPr>
            <p:ph idx="5" type="title"/>
          </p:nvPr>
        </p:nvSpPr>
        <p:spPr>
          <a:xfrm>
            <a:off x="3475913" y="171360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2000"/>
              <a:t>Moving Cart:</a:t>
            </a:r>
            <a:endParaRPr sz="2000"/>
          </a:p>
        </p:txBody>
      </p:sp>
      <p:sp>
        <p:nvSpPr>
          <p:cNvPr id="1002" name="Google Shape;1002;p69"/>
          <p:cNvSpPr txBox="1"/>
          <p:nvPr>
            <p:ph idx="2" type="title"/>
          </p:nvPr>
        </p:nvSpPr>
        <p:spPr>
          <a:xfrm>
            <a:off x="115025" y="502775"/>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the device works</a:t>
            </a:r>
            <a:endParaRPr/>
          </a:p>
        </p:txBody>
      </p:sp>
      <p:sp>
        <p:nvSpPr>
          <p:cNvPr id="1003" name="Google Shape;1003;p69"/>
          <p:cNvSpPr txBox="1"/>
          <p:nvPr>
            <p:ph idx="4" type="title"/>
          </p:nvPr>
        </p:nvSpPr>
        <p:spPr>
          <a:xfrm>
            <a:off x="115025" y="1713600"/>
            <a:ext cx="21432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2000"/>
              <a:t>Spinning Wheel:</a:t>
            </a:r>
            <a:endParaRPr sz="2000"/>
          </a:p>
        </p:txBody>
      </p:sp>
      <p:sp>
        <p:nvSpPr>
          <p:cNvPr id="1004" name="Google Shape;1004;p69"/>
          <p:cNvSpPr txBox="1"/>
          <p:nvPr>
            <p:ph idx="13" type="body"/>
          </p:nvPr>
        </p:nvSpPr>
        <p:spPr>
          <a:xfrm>
            <a:off x="3475913" y="2126854"/>
            <a:ext cx="3717300" cy="27855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sz="1400"/>
              <a:t>The cart’s angular velocity is first scaled by a factor of 10.61 to align its timing with the wheel. This value is then integrated and multiplied by the drive motor’s radius to convert it into linear distance</a:t>
            </a:r>
            <a:endParaRPr sz="1400"/>
          </a:p>
          <a:p>
            <a:pPr indent="0" lvl="0" marL="0" rtl="0" algn="l">
              <a:lnSpc>
                <a:spcPct val="90000"/>
              </a:lnSpc>
              <a:spcBef>
                <a:spcPts val="0"/>
              </a:spcBef>
              <a:spcAft>
                <a:spcPts val="0"/>
              </a:spcAft>
              <a:buNone/>
            </a:pPr>
            <a:r>
              <a:t/>
            </a:r>
            <a:endParaRPr sz="1400"/>
          </a:p>
          <a:p>
            <a:pPr indent="0" lvl="0" marL="0" rtl="0" algn="l">
              <a:lnSpc>
                <a:spcPct val="90000"/>
              </a:lnSpc>
              <a:spcBef>
                <a:spcPts val="0"/>
              </a:spcBef>
              <a:spcAft>
                <a:spcPts val="0"/>
              </a:spcAft>
              <a:buNone/>
            </a:pPr>
            <a:r>
              <a:rPr lang="en" sz="1400"/>
              <a:t>The resulting linear distance is returned to a summation junction and subtracted from the reference distance. This error signal serves as the PID input to achieve a controlled and smooth stopping point.</a:t>
            </a:r>
            <a:endParaRPr sz="1400"/>
          </a:p>
        </p:txBody>
      </p:sp>
      <p:sp>
        <p:nvSpPr>
          <p:cNvPr id="1005" name="Google Shape;1005;p69"/>
          <p:cNvSpPr txBox="1"/>
          <p:nvPr>
            <p:ph idx="7" type="body"/>
          </p:nvPr>
        </p:nvSpPr>
        <p:spPr>
          <a:xfrm>
            <a:off x="115025" y="2126850"/>
            <a:ext cx="3039600" cy="19611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sz="1400"/>
              <a:t>A voltage is applied to the wheels motor to produce a constant velocity.</a:t>
            </a:r>
            <a:endParaRPr sz="1400"/>
          </a:p>
          <a:p>
            <a:pPr indent="0" lvl="0" marL="0" rtl="0" algn="l">
              <a:lnSpc>
                <a:spcPct val="90000"/>
              </a:lnSpc>
              <a:spcBef>
                <a:spcPts val="0"/>
              </a:spcBef>
              <a:spcAft>
                <a:spcPts val="0"/>
              </a:spcAft>
              <a:buNone/>
            </a:pPr>
            <a:r>
              <a:t/>
            </a:r>
            <a:endParaRPr sz="1400"/>
          </a:p>
          <a:p>
            <a:pPr indent="0" lvl="0" marL="0" rtl="0" algn="l">
              <a:lnSpc>
                <a:spcPct val="90000"/>
              </a:lnSpc>
              <a:spcBef>
                <a:spcPts val="0"/>
              </a:spcBef>
              <a:spcAft>
                <a:spcPts val="0"/>
              </a:spcAft>
              <a:buNone/>
            </a:pPr>
            <a:r>
              <a:rPr lang="en" sz="1400"/>
              <a:t>The angular velocity is integrated over time and multiplied by 57.30 to convert the result to degrees, improving the readability of the plotted data.</a:t>
            </a:r>
            <a:endParaRPr sz="1400"/>
          </a:p>
        </p:txBody>
      </p:sp>
      <p:cxnSp>
        <p:nvCxnSpPr>
          <p:cNvPr id="1006" name="Google Shape;1006;p69"/>
          <p:cNvCxnSpPr/>
          <p:nvPr/>
        </p:nvCxnSpPr>
        <p:spPr>
          <a:xfrm>
            <a:off x="3407700" y="1669950"/>
            <a:ext cx="33300" cy="333570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0"/>
          <p:cNvSpPr txBox="1"/>
          <p:nvPr>
            <p:ph idx="4" type="title"/>
          </p:nvPr>
        </p:nvSpPr>
        <p:spPr>
          <a:xfrm>
            <a:off x="2056200" y="186250"/>
            <a:ext cx="512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 and Observation</a:t>
            </a:r>
            <a:endParaRPr/>
          </a:p>
        </p:txBody>
      </p:sp>
      <p:pic>
        <p:nvPicPr>
          <p:cNvPr id="1012" name="Google Shape;1012;p70" title="Wheel_Theta_Degrees_Output.png"/>
          <p:cNvPicPr preferRelativeResize="0"/>
          <p:nvPr/>
        </p:nvPicPr>
        <p:blipFill>
          <a:blip r:embed="rId3">
            <a:alphaModFix/>
          </a:blip>
          <a:stretch>
            <a:fillRect/>
          </a:stretch>
        </p:blipFill>
        <p:spPr>
          <a:xfrm>
            <a:off x="99500" y="979200"/>
            <a:ext cx="2744100" cy="1855500"/>
          </a:xfrm>
          <a:prstGeom prst="rect">
            <a:avLst/>
          </a:prstGeom>
          <a:noFill/>
          <a:ln>
            <a:noFill/>
          </a:ln>
          <a:effectLst>
            <a:outerShdw blurRad="57150" rotWithShape="0" algn="bl" dir="5400000" dist="19050">
              <a:srgbClr val="000000">
                <a:alpha val="50000"/>
              </a:srgbClr>
            </a:outerShdw>
          </a:effectLst>
        </p:spPr>
      </p:pic>
      <p:pic>
        <p:nvPicPr>
          <p:cNvPr id="1013" name="Google Shape;1013;p70" title="Xc_Output_PID_GeneralShape.png"/>
          <p:cNvPicPr preferRelativeResize="0"/>
          <p:nvPr/>
        </p:nvPicPr>
        <p:blipFill>
          <a:blip r:embed="rId4">
            <a:alphaModFix/>
          </a:blip>
          <a:stretch>
            <a:fillRect/>
          </a:stretch>
        </p:blipFill>
        <p:spPr>
          <a:xfrm>
            <a:off x="2978300" y="989913"/>
            <a:ext cx="2712490" cy="1834075"/>
          </a:xfrm>
          <a:prstGeom prst="rect">
            <a:avLst/>
          </a:prstGeom>
          <a:noFill/>
          <a:ln>
            <a:noFill/>
          </a:ln>
          <a:effectLst>
            <a:outerShdw blurRad="57150" rotWithShape="0" algn="bl" dir="5400000" dist="19050">
              <a:srgbClr val="000000">
                <a:alpha val="50000"/>
              </a:srgbClr>
            </a:outerShdw>
          </a:effectLst>
        </p:spPr>
      </p:pic>
      <p:pic>
        <p:nvPicPr>
          <p:cNvPr id="1014" name="Google Shape;1014;p70" title="Xc_Output_NoPID.png"/>
          <p:cNvPicPr preferRelativeResize="0"/>
          <p:nvPr/>
        </p:nvPicPr>
        <p:blipFill>
          <a:blip r:embed="rId5">
            <a:alphaModFix/>
          </a:blip>
          <a:stretch>
            <a:fillRect/>
          </a:stretch>
        </p:blipFill>
        <p:spPr>
          <a:xfrm>
            <a:off x="5825500" y="979213"/>
            <a:ext cx="3066885" cy="1855500"/>
          </a:xfrm>
          <a:prstGeom prst="rect">
            <a:avLst/>
          </a:prstGeom>
          <a:noFill/>
          <a:ln>
            <a:noFill/>
          </a:ln>
          <a:effectLst>
            <a:outerShdw blurRad="57150" rotWithShape="0" algn="bl" dir="5400000" dist="19050">
              <a:srgbClr val="000000">
                <a:alpha val="50000"/>
              </a:srgbClr>
            </a:outerShdw>
          </a:effectLst>
        </p:spPr>
      </p:pic>
      <p:sp>
        <p:nvSpPr>
          <p:cNvPr id="1015" name="Google Shape;1015;p70"/>
          <p:cNvSpPr txBox="1"/>
          <p:nvPr/>
        </p:nvSpPr>
        <p:spPr>
          <a:xfrm>
            <a:off x="99500" y="2852675"/>
            <a:ext cx="263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Sora"/>
                <a:ea typeface="Sora"/>
                <a:cs typeface="Sora"/>
                <a:sym typeface="Sora"/>
              </a:rPr>
              <a:t>Wheel’s angular velocity in degrees</a:t>
            </a:r>
            <a:endParaRPr sz="1000">
              <a:solidFill>
                <a:schemeClr val="lt1"/>
              </a:solidFill>
              <a:latin typeface="Sora"/>
              <a:ea typeface="Sora"/>
              <a:cs typeface="Sora"/>
              <a:sym typeface="Sora"/>
            </a:endParaRPr>
          </a:p>
        </p:txBody>
      </p:sp>
      <p:sp>
        <p:nvSpPr>
          <p:cNvPr id="1016" name="Google Shape;1016;p70"/>
          <p:cNvSpPr txBox="1"/>
          <p:nvPr/>
        </p:nvSpPr>
        <p:spPr>
          <a:xfrm>
            <a:off x="2907750" y="2852675"/>
            <a:ext cx="291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Sora"/>
                <a:ea typeface="Sora"/>
                <a:cs typeface="Sora"/>
                <a:sym typeface="Sora"/>
              </a:rPr>
              <a:t>Cart’s distance over time with PID control</a:t>
            </a:r>
            <a:endParaRPr sz="1000">
              <a:solidFill>
                <a:schemeClr val="lt1"/>
              </a:solidFill>
              <a:latin typeface="Sora"/>
              <a:ea typeface="Sora"/>
              <a:cs typeface="Sora"/>
              <a:sym typeface="Sora"/>
            </a:endParaRPr>
          </a:p>
        </p:txBody>
      </p:sp>
      <p:sp>
        <p:nvSpPr>
          <p:cNvPr id="1017" name="Google Shape;1017;p70"/>
          <p:cNvSpPr txBox="1"/>
          <p:nvPr/>
        </p:nvSpPr>
        <p:spPr>
          <a:xfrm>
            <a:off x="5825500" y="2852675"/>
            <a:ext cx="317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Sora"/>
                <a:ea typeface="Sora"/>
                <a:cs typeface="Sora"/>
                <a:sym typeface="Sora"/>
              </a:rPr>
              <a:t>Cart’s distance over time with no PID control</a:t>
            </a:r>
            <a:endParaRPr sz="1000">
              <a:solidFill>
                <a:schemeClr val="lt1"/>
              </a:solidFill>
              <a:latin typeface="Sora"/>
              <a:ea typeface="Sora"/>
              <a:cs typeface="Sora"/>
              <a:sym typeface="Sora"/>
            </a:endParaRPr>
          </a:p>
        </p:txBody>
      </p:sp>
      <p:sp>
        <p:nvSpPr>
          <p:cNvPr id="1018" name="Google Shape;1018;p70"/>
          <p:cNvSpPr txBox="1"/>
          <p:nvPr/>
        </p:nvSpPr>
        <p:spPr>
          <a:xfrm>
            <a:off x="170400" y="3429025"/>
            <a:ext cx="8592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Sora"/>
                <a:ea typeface="Sora"/>
                <a:cs typeface="Sora"/>
                <a:sym typeface="Sora"/>
              </a:rPr>
              <a:t>Observations: </a:t>
            </a:r>
            <a:endParaRPr sz="1200">
              <a:solidFill>
                <a:schemeClr val="lt1"/>
              </a:solidFill>
              <a:latin typeface="Sora"/>
              <a:ea typeface="Sora"/>
              <a:cs typeface="Sora"/>
              <a:sym typeface="Sora"/>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a:p>
            <a:pPr indent="0" lvl="0" marL="0" rtl="0" algn="l">
              <a:spcBef>
                <a:spcPts val="0"/>
              </a:spcBef>
              <a:spcAft>
                <a:spcPts val="0"/>
              </a:spcAft>
              <a:buNone/>
            </a:pPr>
            <a:r>
              <a:rPr lang="en" sz="1200">
                <a:solidFill>
                  <a:schemeClr val="lt1"/>
                </a:solidFill>
                <a:latin typeface="Sora"/>
                <a:ea typeface="Sora"/>
                <a:cs typeface="Sora"/>
                <a:sym typeface="Sora"/>
              </a:rPr>
              <a:t>The wheel’s angular velocity remains constant throughout the motion once the setpoint is applied. With PID control implemented, the cart’s position converges smoothly to the 0.55 [m] reference. Without PID control, however, the cart overshoots the target and continues driving forward, ultimately colliding with the end of the linear actuator.</a:t>
            </a:r>
            <a:endParaRPr sz="1200">
              <a:solidFill>
                <a:schemeClr val="lt1"/>
              </a:solidFill>
              <a:latin typeface="Sora"/>
              <a:ea typeface="Sora"/>
              <a:cs typeface="Sora"/>
              <a:sym typeface="S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1"/>
          <p:cNvSpPr txBox="1"/>
          <p:nvPr/>
        </p:nvSpPr>
        <p:spPr>
          <a:xfrm>
            <a:off x="141450" y="119125"/>
            <a:ext cx="568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lt1"/>
                </a:solidFill>
                <a:latin typeface="Sora"/>
                <a:ea typeface="Sora"/>
                <a:cs typeface="Sora"/>
                <a:sym typeface="Sora"/>
              </a:rPr>
              <a:t>Results (Calculations)</a:t>
            </a:r>
            <a:endParaRPr sz="3600">
              <a:solidFill>
                <a:schemeClr val="lt1"/>
              </a:solidFill>
              <a:latin typeface="Sora"/>
              <a:ea typeface="Sora"/>
              <a:cs typeface="Sora"/>
              <a:sym typeface="Sora"/>
            </a:endParaRPr>
          </a:p>
        </p:txBody>
      </p:sp>
      <p:pic>
        <p:nvPicPr>
          <p:cNvPr id="1024" name="Google Shape;1024;p71" title="image_2025-12-06_170806278.png"/>
          <p:cNvPicPr preferRelativeResize="0"/>
          <p:nvPr/>
        </p:nvPicPr>
        <p:blipFill>
          <a:blip r:embed="rId3">
            <a:alphaModFix/>
          </a:blip>
          <a:stretch>
            <a:fillRect/>
          </a:stretch>
        </p:blipFill>
        <p:spPr>
          <a:xfrm>
            <a:off x="66975" y="858025"/>
            <a:ext cx="4150066" cy="3980675"/>
          </a:xfrm>
          <a:prstGeom prst="rect">
            <a:avLst/>
          </a:prstGeom>
          <a:noFill/>
          <a:ln>
            <a:noFill/>
          </a:ln>
          <a:effectLst>
            <a:outerShdw blurRad="57150" rotWithShape="0" algn="bl" dir="5400000" dist="19050">
              <a:srgbClr val="000000">
                <a:alpha val="50000"/>
              </a:srgbClr>
            </a:outerShdw>
          </a:effectLst>
        </p:spPr>
      </p:pic>
      <p:pic>
        <p:nvPicPr>
          <p:cNvPr id="1025" name="Google Shape;1025;p71" title="image_2025-12-06_170934682.png"/>
          <p:cNvPicPr preferRelativeResize="0"/>
          <p:nvPr/>
        </p:nvPicPr>
        <p:blipFill>
          <a:blip r:embed="rId4">
            <a:alphaModFix/>
          </a:blip>
          <a:stretch>
            <a:fillRect/>
          </a:stretch>
        </p:blipFill>
        <p:spPr>
          <a:xfrm>
            <a:off x="4300725" y="858025"/>
            <a:ext cx="4742932" cy="39806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2"/>
          <p:cNvSpPr txBox="1"/>
          <p:nvPr/>
        </p:nvSpPr>
        <p:spPr>
          <a:xfrm>
            <a:off x="228600" y="178700"/>
            <a:ext cx="5026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lt1"/>
                </a:solidFill>
                <a:latin typeface="Sora"/>
                <a:ea typeface="Sora"/>
                <a:cs typeface="Sora"/>
                <a:sym typeface="Sora"/>
              </a:rPr>
              <a:t>Results (Simulation)</a:t>
            </a:r>
            <a:endParaRPr sz="3600">
              <a:solidFill>
                <a:schemeClr val="lt1"/>
              </a:solidFill>
              <a:latin typeface="Sora"/>
              <a:ea typeface="Sora"/>
              <a:cs typeface="Sora"/>
              <a:sym typeface="Sora"/>
            </a:endParaRPr>
          </a:p>
        </p:txBody>
      </p:sp>
      <p:pic>
        <p:nvPicPr>
          <p:cNvPr id="1031" name="Google Shape;1031;p72" title="image_2025-12-06_190257091.png"/>
          <p:cNvPicPr preferRelativeResize="0"/>
          <p:nvPr/>
        </p:nvPicPr>
        <p:blipFill>
          <a:blip r:embed="rId3">
            <a:alphaModFix/>
          </a:blip>
          <a:stretch>
            <a:fillRect/>
          </a:stretch>
        </p:blipFill>
        <p:spPr>
          <a:xfrm>
            <a:off x="1843527" y="1052400"/>
            <a:ext cx="5363049" cy="3038700"/>
          </a:xfrm>
          <a:prstGeom prst="rect">
            <a:avLst/>
          </a:prstGeom>
          <a:noFill/>
          <a:ln>
            <a:noFill/>
          </a:ln>
          <a:effectLst>
            <a:outerShdw blurRad="57150" rotWithShape="0" algn="bl" dir="5400000" dist="19050">
              <a:srgbClr val="000000">
                <a:alpha val="50000"/>
              </a:srgbClr>
            </a:outerShdw>
          </a:effectLst>
        </p:spPr>
      </p:pic>
      <p:sp>
        <p:nvSpPr>
          <p:cNvPr id="1032" name="Google Shape;1032;p72"/>
          <p:cNvSpPr txBox="1"/>
          <p:nvPr/>
        </p:nvSpPr>
        <p:spPr>
          <a:xfrm>
            <a:off x="2491500" y="4238025"/>
            <a:ext cx="4161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Sora"/>
                <a:ea typeface="Sora"/>
                <a:cs typeface="Sora"/>
                <a:sym typeface="Sora"/>
              </a:rPr>
              <a:t>The schematic above was used to obtain all simulated data</a:t>
            </a:r>
            <a:endParaRPr sz="1200">
              <a:solidFill>
                <a:schemeClr val="lt1"/>
              </a:solidFill>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73"/>
          <p:cNvSpPr txBox="1"/>
          <p:nvPr>
            <p:ph type="title"/>
          </p:nvPr>
        </p:nvSpPr>
        <p:spPr>
          <a:xfrm>
            <a:off x="228600" y="148025"/>
            <a:ext cx="6637500" cy="7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Results (Data)</a:t>
            </a:r>
            <a:endParaRPr sz="3600"/>
          </a:p>
        </p:txBody>
      </p:sp>
      <p:pic>
        <p:nvPicPr>
          <p:cNvPr id="1038" name="Google Shape;1038;p73" title="Wheel_Theta_Degrees_Output.png"/>
          <p:cNvPicPr preferRelativeResize="0"/>
          <p:nvPr/>
        </p:nvPicPr>
        <p:blipFill>
          <a:blip r:embed="rId3">
            <a:alphaModFix/>
          </a:blip>
          <a:stretch>
            <a:fillRect/>
          </a:stretch>
        </p:blipFill>
        <p:spPr>
          <a:xfrm>
            <a:off x="116925" y="901025"/>
            <a:ext cx="2779675" cy="1879476"/>
          </a:xfrm>
          <a:prstGeom prst="rect">
            <a:avLst/>
          </a:prstGeom>
          <a:noFill/>
          <a:ln>
            <a:noFill/>
          </a:ln>
          <a:effectLst>
            <a:outerShdw blurRad="57150" rotWithShape="0" algn="bl" dir="5400000" dist="19050">
              <a:srgbClr val="000000">
                <a:alpha val="50000"/>
              </a:srgbClr>
            </a:outerShdw>
          </a:effectLst>
        </p:spPr>
      </p:pic>
      <p:pic>
        <p:nvPicPr>
          <p:cNvPr id="1039" name="Google Shape;1039;p73" title="Xc_Timing_OutPut_PID_ZoomedIn.png"/>
          <p:cNvPicPr preferRelativeResize="0"/>
          <p:nvPr/>
        </p:nvPicPr>
        <p:blipFill>
          <a:blip r:embed="rId4">
            <a:alphaModFix/>
          </a:blip>
          <a:stretch>
            <a:fillRect/>
          </a:stretch>
        </p:blipFill>
        <p:spPr>
          <a:xfrm>
            <a:off x="3063300" y="891013"/>
            <a:ext cx="2779675" cy="1899499"/>
          </a:xfrm>
          <a:prstGeom prst="rect">
            <a:avLst/>
          </a:prstGeom>
          <a:noFill/>
          <a:ln>
            <a:noFill/>
          </a:ln>
          <a:effectLst>
            <a:outerShdw blurRad="57150" rotWithShape="0" algn="bl" dir="5400000" dist="19050">
              <a:srgbClr val="000000">
                <a:alpha val="50000"/>
              </a:srgbClr>
            </a:outerShdw>
          </a:effectLst>
        </p:spPr>
      </p:pic>
      <p:sp>
        <p:nvSpPr>
          <p:cNvPr id="1040" name="Google Shape;1040;p73"/>
          <p:cNvSpPr txBox="1"/>
          <p:nvPr/>
        </p:nvSpPr>
        <p:spPr>
          <a:xfrm>
            <a:off x="50250" y="2780500"/>
            <a:ext cx="3104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Sora"/>
                <a:ea typeface="Sora"/>
                <a:cs typeface="Sora"/>
                <a:sym typeface="Sora"/>
              </a:rPr>
              <a:t>Close up image for angular velocity of wheel</a:t>
            </a:r>
            <a:endParaRPr sz="1000">
              <a:solidFill>
                <a:schemeClr val="lt1"/>
              </a:solidFill>
              <a:latin typeface="Sora"/>
              <a:ea typeface="Sora"/>
              <a:cs typeface="Sora"/>
              <a:sym typeface="Sora"/>
            </a:endParaRPr>
          </a:p>
        </p:txBody>
      </p:sp>
      <p:sp>
        <p:nvSpPr>
          <p:cNvPr id="1041" name="Google Shape;1041;p73"/>
          <p:cNvSpPr txBox="1"/>
          <p:nvPr/>
        </p:nvSpPr>
        <p:spPr>
          <a:xfrm>
            <a:off x="3019800" y="2780500"/>
            <a:ext cx="3104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Sora"/>
                <a:ea typeface="Sora"/>
                <a:cs typeface="Sora"/>
                <a:sym typeface="Sora"/>
              </a:rPr>
              <a:t>Close up image for linear distance of cart</a:t>
            </a:r>
            <a:endParaRPr sz="1000">
              <a:solidFill>
                <a:schemeClr val="lt1"/>
              </a:solidFill>
              <a:latin typeface="Sora"/>
              <a:ea typeface="Sora"/>
              <a:cs typeface="Sora"/>
              <a:sym typeface="Sora"/>
            </a:endParaRPr>
          </a:p>
        </p:txBody>
      </p:sp>
      <p:pic>
        <p:nvPicPr>
          <p:cNvPr id="1042" name="Google Shape;1042;p73" title="image_2025-12-06_172653939.png"/>
          <p:cNvPicPr preferRelativeResize="0"/>
          <p:nvPr/>
        </p:nvPicPr>
        <p:blipFill>
          <a:blip r:embed="rId5">
            <a:alphaModFix/>
          </a:blip>
          <a:stretch>
            <a:fillRect/>
          </a:stretch>
        </p:blipFill>
        <p:spPr>
          <a:xfrm>
            <a:off x="5914850" y="891025"/>
            <a:ext cx="3104399" cy="1869841"/>
          </a:xfrm>
          <a:prstGeom prst="rect">
            <a:avLst/>
          </a:prstGeom>
          <a:noFill/>
          <a:ln>
            <a:noFill/>
          </a:ln>
          <a:effectLst>
            <a:outerShdw blurRad="57150" rotWithShape="0" algn="bl" dir="5400000" dist="19050">
              <a:srgbClr val="000000">
                <a:alpha val="50000"/>
              </a:srgbClr>
            </a:outerShdw>
          </a:effectLst>
        </p:spPr>
      </p:pic>
      <p:sp>
        <p:nvSpPr>
          <p:cNvPr id="1043" name="Google Shape;1043;p73"/>
          <p:cNvSpPr txBox="1"/>
          <p:nvPr/>
        </p:nvSpPr>
        <p:spPr>
          <a:xfrm>
            <a:off x="5914850" y="2760875"/>
            <a:ext cx="3104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Sora"/>
                <a:ea typeface="Sora"/>
                <a:cs typeface="Sora"/>
                <a:sym typeface="Sora"/>
              </a:rPr>
              <a:t>Time it takes for the cart to come to resting position</a:t>
            </a:r>
            <a:endParaRPr sz="1000">
              <a:solidFill>
                <a:schemeClr val="lt1"/>
              </a:solidFill>
              <a:latin typeface="Sora"/>
              <a:ea typeface="Sora"/>
              <a:cs typeface="Sora"/>
              <a:sym typeface="Sora"/>
            </a:endParaRPr>
          </a:p>
        </p:txBody>
      </p:sp>
      <p:sp>
        <p:nvSpPr>
          <p:cNvPr id="1044" name="Google Shape;1044;p73"/>
          <p:cNvSpPr txBox="1"/>
          <p:nvPr/>
        </p:nvSpPr>
        <p:spPr>
          <a:xfrm>
            <a:off x="151500" y="3337800"/>
            <a:ext cx="884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Sora"/>
                <a:ea typeface="Sora"/>
                <a:cs typeface="Sora"/>
                <a:sym typeface="Sora"/>
              </a:rPr>
              <a:t>How to obtain: </a:t>
            </a:r>
            <a:r>
              <a:rPr lang="en" sz="1200">
                <a:solidFill>
                  <a:schemeClr val="lt1"/>
                </a:solidFill>
                <a:latin typeface="Sora"/>
                <a:ea typeface="Sora"/>
                <a:cs typeface="Sora"/>
                <a:sym typeface="Sora"/>
              </a:rPr>
              <a:t>The timing information is determined by plotting the cart’s linear position and the wheel’s angular position over time, then identifying when the respective events occur. The time required for the cart to come to rest after reaching the slit is measured using </a:t>
            </a:r>
            <a:r>
              <a:rPr lang="en" sz="1200">
                <a:solidFill>
                  <a:schemeClr val="lt1"/>
                </a:solidFill>
                <a:latin typeface="Sora"/>
                <a:ea typeface="Sora"/>
                <a:cs typeface="Sora"/>
                <a:sym typeface="Sora"/>
              </a:rPr>
              <a:t>Simulink</a:t>
            </a:r>
            <a:r>
              <a:rPr lang="en" sz="1200">
                <a:solidFill>
                  <a:schemeClr val="lt1"/>
                </a:solidFill>
                <a:latin typeface="Sora"/>
                <a:ea typeface="Sora"/>
                <a:cs typeface="Sora"/>
                <a:sym typeface="Sora"/>
              </a:rPr>
              <a:t> cursor tools.</a:t>
            </a:r>
            <a:endParaRPr sz="1200">
              <a:solidFill>
                <a:schemeClr val="lt1"/>
              </a:solidFill>
              <a:latin typeface="Sora"/>
              <a:ea typeface="Sora"/>
              <a:cs typeface="Sora"/>
              <a:sym typeface="S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pic>
        <p:nvPicPr>
          <p:cNvPr id="1049" name="Google Shape;1049;p74" title="Xc_Timing_OutPut_PID_ZoomedIn.png"/>
          <p:cNvPicPr preferRelativeResize="0"/>
          <p:nvPr/>
        </p:nvPicPr>
        <p:blipFill>
          <a:blip r:embed="rId3">
            <a:alphaModFix/>
          </a:blip>
          <a:stretch>
            <a:fillRect/>
          </a:stretch>
        </p:blipFill>
        <p:spPr>
          <a:xfrm>
            <a:off x="5723275" y="228600"/>
            <a:ext cx="2951600" cy="2016988"/>
          </a:xfrm>
          <a:prstGeom prst="rect">
            <a:avLst/>
          </a:prstGeom>
          <a:noFill/>
          <a:ln>
            <a:noFill/>
          </a:ln>
          <a:effectLst>
            <a:outerShdw blurRad="57150" rotWithShape="0" algn="bl" dir="5400000" dist="19050">
              <a:srgbClr val="000000">
                <a:alpha val="50000"/>
              </a:srgbClr>
            </a:outerShdw>
          </a:effectLst>
        </p:spPr>
      </p:pic>
      <p:pic>
        <p:nvPicPr>
          <p:cNvPr id="1050" name="Google Shape;1050;p74" title="Wheel_Theta_Degrees_Output.png"/>
          <p:cNvPicPr preferRelativeResize="0"/>
          <p:nvPr/>
        </p:nvPicPr>
        <p:blipFill>
          <a:blip r:embed="rId4">
            <a:alphaModFix/>
          </a:blip>
          <a:stretch>
            <a:fillRect/>
          </a:stretch>
        </p:blipFill>
        <p:spPr>
          <a:xfrm>
            <a:off x="5723275" y="2408625"/>
            <a:ext cx="2951600" cy="1995708"/>
          </a:xfrm>
          <a:prstGeom prst="rect">
            <a:avLst/>
          </a:prstGeom>
          <a:noFill/>
          <a:ln>
            <a:noFill/>
          </a:ln>
          <a:effectLst>
            <a:outerShdw blurRad="57150" rotWithShape="0" algn="bl" dir="5400000" dist="19050">
              <a:srgbClr val="000000">
                <a:alpha val="50000"/>
              </a:srgbClr>
            </a:outerShdw>
          </a:effectLst>
        </p:spPr>
      </p:pic>
      <p:sp>
        <p:nvSpPr>
          <p:cNvPr id="1051" name="Google Shape;1051;p74"/>
          <p:cNvSpPr txBox="1"/>
          <p:nvPr/>
        </p:nvSpPr>
        <p:spPr>
          <a:xfrm>
            <a:off x="228600" y="100275"/>
            <a:ext cx="4289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lt1"/>
                </a:solidFill>
                <a:latin typeface="Sora"/>
                <a:ea typeface="Sora"/>
                <a:cs typeface="Sora"/>
                <a:sym typeface="Sora"/>
              </a:rPr>
              <a:t>Timing Analysis </a:t>
            </a:r>
            <a:endParaRPr sz="3600">
              <a:solidFill>
                <a:schemeClr val="lt1"/>
              </a:solidFill>
              <a:latin typeface="Sora"/>
              <a:ea typeface="Sora"/>
              <a:cs typeface="Sora"/>
              <a:sym typeface="Sora"/>
            </a:endParaRPr>
          </a:p>
        </p:txBody>
      </p:sp>
      <p:sp>
        <p:nvSpPr>
          <p:cNvPr id="1052" name="Google Shape;1052;p74"/>
          <p:cNvSpPr txBox="1"/>
          <p:nvPr/>
        </p:nvSpPr>
        <p:spPr>
          <a:xfrm>
            <a:off x="185250" y="839175"/>
            <a:ext cx="5049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To evaluate whether the system functions as intended, the cart’s arrival time at 0.5 [m] is compared with the wheel’s angular position at that same instant. Proper alignment occurs when the wheel’s angle is an integer multiple of 90°. Simulation results show that the cart reaches 0.5 [m] at t = 2.52 [s], while the wheel reaches 90° at t = 2.53 [s]. This mismatch of only 10 [ms], an error of 0.16%, demonstrates that the system’s timing accuracy is excellent.</a:t>
            </a:r>
            <a:endParaRPr sz="1200">
              <a:solidFill>
                <a:schemeClr val="lt1"/>
              </a:solidFill>
              <a:latin typeface="Sora"/>
              <a:ea typeface="Sora"/>
              <a:cs typeface="Sora"/>
              <a:sym typeface="S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p75" title="Timing to get to stop.png"/>
          <p:cNvPicPr preferRelativeResize="0"/>
          <p:nvPr/>
        </p:nvPicPr>
        <p:blipFill>
          <a:blip r:embed="rId3">
            <a:alphaModFix/>
          </a:blip>
          <a:stretch>
            <a:fillRect/>
          </a:stretch>
        </p:blipFill>
        <p:spPr>
          <a:xfrm>
            <a:off x="4652400" y="131800"/>
            <a:ext cx="4300801" cy="2590450"/>
          </a:xfrm>
          <a:prstGeom prst="rect">
            <a:avLst/>
          </a:prstGeom>
          <a:noFill/>
          <a:ln>
            <a:noFill/>
          </a:ln>
          <a:effectLst>
            <a:outerShdw blurRad="57150" rotWithShape="0" algn="bl" dir="5400000" dist="19050">
              <a:srgbClr val="000000">
                <a:alpha val="50000"/>
              </a:srgbClr>
            </a:outerShdw>
          </a:effectLst>
        </p:spPr>
      </p:pic>
      <p:sp>
        <p:nvSpPr>
          <p:cNvPr id="1058" name="Google Shape;1058;p75"/>
          <p:cNvSpPr txBox="1"/>
          <p:nvPr/>
        </p:nvSpPr>
        <p:spPr>
          <a:xfrm>
            <a:off x="228600" y="228600"/>
            <a:ext cx="4161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lt1"/>
                </a:solidFill>
                <a:latin typeface="Sora"/>
                <a:ea typeface="Sora"/>
                <a:cs typeface="Sora"/>
                <a:sym typeface="Sora"/>
              </a:rPr>
              <a:t>End Position Analysis</a:t>
            </a:r>
            <a:endParaRPr sz="3600">
              <a:solidFill>
                <a:schemeClr val="lt1"/>
              </a:solidFill>
              <a:latin typeface="Sora"/>
              <a:ea typeface="Sora"/>
              <a:cs typeface="Sora"/>
              <a:sym typeface="Sora"/>
            </a:endParaRPr>
          </a:p>
        </p:txBody>
      </p:sp>
      <p:sp>
        <p:nvSpPr>
          <p:cNvPr id="1059" name="Google Shape;1059;p75"/>
          <p:cNvSpPr txBox="1"/>
          <p:nvPr/>
        </p:nvSpPr>
        <p:spPr>
          <a:xfrm>
            <a:off x="228600" y="1586075"/>
            <a:ext cx="4161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An important performance metric for this system is the time required for the cart to come to a complete stop at its final position. This becomes critical if the design includes a return motion, where the cart must travel back through the wheel. If the stopping phase is too long, the return command may occur prematurely, causing timing misalignment. In our system, the cart’s stopping time is 1.68 [s], representing approximately 40% of the total run time from the start to end position, indicating a relatively slow deceleration phase.</a:t>
            </a:r>
            <a:endParaRPr sz="1200">
              <a:solidFill>
                <a:schemeClr val="lt1"/>
              </a:solidFill>
              <a:latin typeface="Sora"/>
              <a:ea typeface="Sora"/>
              <a:cs typeface="Sora"/>
              <a:sym typeface="S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76"/>
          <p:cNvSpPr txBox="1"/>
          <p:nvPr/>
        </p:nvSpPr>
        <p:spPr>
          <a:xfrm>
            <a:off x="122850" y="87750"/>
            <a:ext cx="460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lt1"/>
                </a:solidFill>
                <a:latin typeface="Sora"/>
                <a:ea typeface="Sora"/>
                <a:cs typeface="Sora"/>
                <a:sym typeface="Sora"/>
              </a:rPr>
              <a:t>Discussion</a:t>
            </a:r>
            <a:endParaRPr sz="3600">
              <a:solidFill>
                <a:schemeClr val="lt1"/>
              </a:solidFill>
              <a:latin typeface="Sora"/>
              <a:ea typeface="Sora"/>
              <a:cs typeface="Sora"/>
              <a:sym typeface="Sora"/>
            </a:endParaRPr>
          </a:p>
        </p:txBody>
      </p:sp>
      <p:sp>
        <p:nvSpPr>
          <p:cNvPr id="1065" name="Google Shape;1065;p76"/>
          <p:cNvSpPr txBox="1"/>
          <p:nvPr/>
        </p:nvSpPr>
        <p:spPr>
          <a:xfrm>
            <a:off x="100500" y="699950"/>
            <a:ext cx="8814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The primary sources of experimental error in the cart–wheel system include belt elasticity and backlash, linear-guide friction, motor and drive nonlinearities, sensor limitations, and mechanical misalignment. Belt stretch and play introduce deviations from the ideal kinematic relation 𝑥 = 𝑟𝜃, causing the cart to reach the slit earlier or later than predicted. Friction alters acceleration and deceleration profiles, increasing rise time and stopping distance relative to the ideal second order response. Motor and driver nonlinearities, such as current limits, deadtime, and torque ripple, further affect overshoot and settling behavior. Sensor quantization and latency introduce uncertainty in detecting the 0.5 [m] position and the slit-alignment time; these effects can be evaluated through repeated trials and statistical analysis of arrival-time and position dispersion. Mechanical misalignment of the wheel, cart, and slit introduces a systematic offset between the theoretical and actual clearance window. In practice, the theoretical model yields a single deterministic timing value, whereas experimental results exhibit a biased mean with finite variance; comparing this variance to the allowable geometric window provides a rigorous assessment of system performance.</a:t>
            </a:r>
            <a:endParaRPr sz="1200">
              <a:solidFill>
                <a:schemeClr val="lt1"/>
              </a:solidFill>
              <a:latin typeface="Sora"/>
              <a:ea typeface="Sora"/>
              <a:cs typeface="Sora"/>
              <a:sym typeface="S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77"/>
          <p:cNvSpPr txBox="1"/>
          <p:nvPr>
            <p:ph type="title"/>
          </p:nvPr>
        </p:nvSpPr>
        <p:spPr>
          <a:xfrm>
            <a:off x="185250" y="403300"/>
            <a:ext cx="4289100" cy="10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Conclusion</a:t>
            </a:r>
            <a:endParaRPr sz="3600"/>
          </a:p>
          <a:p>
            <a:pPr indent="0" lvl="0" marL="0" rtl="0" algn="l">
              <a:spcBef>
                <a:spcPts val="0"/>
              </a:spcBef>
              <a:spcAft>
                <a:spcPts val="0"/>
              </a:spcAft>
              <a:buNone/>
            </a:pPr>
            <a:r>
              <a:rPr lang="en" sz="3600"/>
              <a:t>(Key Outcomes)</a:t>
            </a:r>
            <a:endParaRPr sz="3600"/>
          </a:p>
        </p:txBody>
      </p:sp>
      <p:sp>
        <p:nvSpPr>
          <p:cNvPr id="1071" name="Google Shape;1071;p77"/>
          <p:cNvSpPr txBox="1"/>
          <p:nvPr/>
        </p:nvSpPr>
        <p:spPr>
          <a:xfrm>
            <a:off x="140550" y="2237925"/>
            <a:ext cx="4289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ra"/>
                <a:ea typeface="Sora"/>
                <a:cs typeface="Sora"/>
                <a:sym typeface="Sora"/>
              </a:rPr>
              <a:t>The experiment shows that the cart can be driven so it passes the slit at the correct time and then stops slightly beyond it, confirming that the derived kinematic ratio and control strategy are physically achievable. The timing between the cart reaching 0.5 m and the wheel’s slit alignment is close to the theoretical value, and the position loop can be tuned to give small, acceptable overshoot while still protecting the pin</a:t>
            </a:r>
            <a:endParaRPr sz="1200">
              <a:solidFill>
                <a:schemeClr val="dk1"/>
              </a:solidFill>
              <a:latin typeface="Sora"/>
              <a:ea typeface="Sora"/>
              <a:cs typeface="Sora"/>
              <a:sym typeface="S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78"/>
          <p:cNvSpPr txBox="1"/>
          <p:nvPr>
            <p:ph type="title"/>
          </p:nvPr>
        </p:nvSpPr>
        <p:spPr>
          <a:xfrm>
            <a:off x="170475" y="89375"/>
            <a:ext cx="6507000" cy="81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(Original Question)</a:t>
            </a:r>
            <a:endParaRPr/>
          </a:p>
        </p:txBody>
      </p:sp>
      <p:sp>
        <p:nvSpPr>
          <p:cNvPr id="1077" name="Google Shape;1077;p78"/>
          <p:cNvSpPr txBox="1"/>
          <p:nvPr/>
        </p:nvSpPr>
        <p:spPr>
          <a:xfrm>
            <a:off x="170475" y="1154175"/>
            <a:ext cx="4289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Sora"/>
                <a:ea typeface="Sora"/>
                <a:cs typeface="Sora"/>
                <a:sym typeface="Sora"/>
              </a:rPr>
              <a:t>The original question was whether a motor driven cart could be synchronized with a rotating four slit wheel so a pin reliably passes through a slit instead of colliding with the disc. The successful timing and repeatable passage through the slit show that the analytical relationship between wheel speed, cart travel, and distance L is valid in practice within experimental uncertainty, while the tuning effort and small deviations highlight the influence of friction, compliance, and sensing limits.</a:t>
            </a:r>
            <a:endParaRPr sz="1200">
              <a:solidFill>
                <a:schemeClr val="lt1"/>
              </a:solidFill>
              <a:latin typeface="Sora"/>
              <a:ea typeface="Sora"/>
              <a:cs typeface="Sora"/>
              <a:sym typeface="S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79"/>
          <p:cNvSpPr txBox="1"/>
          <p:nvPr/>
        </p:nvSpPr>
        <p:spPr>
          <a:xfrm>
            <a:off x="228600" y="228600"/>
            <a:ext cx="6684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ora"/>
                <a:ea typeface="Sora"/>
                <a:cs typeface="Sora"/>
                <a:sym typeface="Sora"/>
              </a:rPr>
              <a:t>Conclusion (</a:t>
            </a:r>
            <a:r>
              <a:rPr lang="en" sz="3600">
                <a:solidFill>
                  <a:schemeClr val="dk1"/>
                </a:solidFill>
                <a:latin typeface="Sora"/>
                <a:ea typeface="Sora"/>
                <a:cs typeface="Sora"/>
                <a:sym typeface="Sora"/>
              </a:rPr>
              <a:t>Improvements</a:t>
            </a:r>
            <a:r>
              <a:rPr lang="en" sz="3600">
                <a:solidFill>
                  <a:schemeClr val="dk1"/>
                </a:solidFill>
                <a:latin typeface="Sora"/>
                <a:ea typeface="Sora"/>
                <a:cs typeface="Sora"/>
                <a:sym typeface="Sora"/>
              </a:rPr>
              <a:t>)</a:t>
            </a:r>
            <a:endParaRPr sz="3600">
              <a:solidFill>
                <a:schemeClr val="dk1"/>
              </a:solidFill>
              <a:latin typeface="Sora"/>
              <a:ea typeface="Sora"/>
              <a:cs typeface="Sora"/>
              <a:sym typeface="Sora"/>
            </a:endParaRPr>
          </a:p>
        </p:txBody>
      </p:sp>
      <p:sp>
        <p:nvSpPr>
          <p:cNvPr id="1083" name="Google Shape;1083;p79"/>
          <p:cNvSpPr txBox="1"/>
          <p:nvPr/>
        </p:nvSpPr>
        <p:spPr>
          <a:xfrm>
            <a:off x="228600" y="1422250"/>
            <a:ext cx="42891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ra"/>
                <a:ea typeface="Sora"/>
                <a:cs typeface="Sora"/>
                <a:sym typeface="Sora"/>
              </a:rPr>
              <a:t>Future work could improve robustness by adding wheel speed or wheel angle feedback so the cart automatically tracks changes in wheel speed, or by using a two stage or trajectory based controller (fast approach, then shaped deceleration) to shorten the tail without losing timing accuracy. Mechanical and sensing upgrades, stiffer belts, better alignment and higher resolution encoders could reduce timing and position uncertainty, and more advanced studies could compare different control strategies or slit configurations to find the best balance between timing precision, stopping accuracy, and implementation complexity.</a:t>
            </a:r>
            <a:endParaRPr sz="1200">
              <a:solidFill>
                <a:schemeClr val="dk1"/>
              </a:solidFill>
              <a:latin typeface="Sora"/>
              <a:ea typeface="Sora"/>
              <a:cs typeface="Sora"/>
              <a:sym typeface="So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80"/>
          <p:cNvSpPr txBox="1"/>
          <p:nvPr/>
        </p:nvSpPr>
        <p:spPr>
          <a:xfrm>
            <a:off x="2388000" y="87750"/>
            <a:ext cx="4461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Sora"/>
                <a:ea typeface="Sora"/>
                <a:cs typeface="Sora"/>
                <a:sym typeface="Sora"/>
              </a:rPr>
              <a:t>References</a:t>
            </a:r>
            <a:endParaRPr sz="3600">
              <a:solidFill>
                <a:schemeClr val="lt1"/>
              </a:solidFill>
              <a:latin typeface="Sora"/>
              <a:ea typeface="Sora"/>
              <a:cs typeface="Sora"/>
              <a:sym typeface="Sora"/>
            </a:endParaRPr>
          </a:p>
        </p:txBody>
      </p:sp>
      <p:sp>
        <p:nvSpPr>
          <p:cNvPr id="1089" name="Google Shape;1089;p80"/>
          <p:cNvSpPr txBox="1"/>
          <p:nvPr/>
        </p:nvSpPr>
        <p:spPr>
          <a:xfrm>
            <a:off x="0" y="826650"/>
            <a:ext cx="9144000" cy="289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t>[1] Teknic Inc, “ClearPath: Teknic's Integrated Brushless Servo Motor, Drive and Encoder, YouTube, May 10, 2018. [Online]. Available:</a:t>
            </a:r>
            <a:r>
              <a:rPr lang="en" sz="1100">
                <a:uFill>
                  <a:noFill/>
                </a:uFill>
                <a:hlinkClick r:id="rId3"/>
              </a:rPr>
              <a:t> </a:t>
            </a:r>
            <a:r>
              <a:rPr lang="en" sz="1100" u="sng">
                <a:solidFill>
                  <a:schemeClr val="hlink"/>
                </a:solidFill>
                <a:hlinkClick r:id="rId4"/>
              </a:rPr>
              <a:t>https://www.youtube.com/watch?v=_SYhCRwacDs</a:t>
            </a:r>
            <a:endParaRPr sz="1200">
              <a:solidFill>
                <a:schemeClr val="lt1"/>
              </a:solidFill>
              <a:latin typeface="Sora"/>
              <a:ea typeface="Sora"/>
              <a:cs typeface="Sora"/>
              <a:sym typeface="Sora"/>
            </a:endParaRPr>
          </a:p>
          <a:p>
            <a:pPr indent="0" lvl="0" marL="0" rtl="0" algn="l">
              <a:lnSpc>
                <a:spcPct val="150000"/>
              </a:lnSpc>
              <a:spcBef>
                <a:spcPts val="0"/>
              </a:spcBef>
              <a:spcAft>
                <a:spcPts val="0"/>
              </a:spcAft>
              <a:buNone/>
            </a:pPr>
            <a:r>
              <a:rPr lang="en" sz="1100"/>
              <a:t>[2] ABB (Baldor-Reliance), </a:t>
            </a:r>
            <a:r>
              <a:rPr i="1" lang="en" sz="1100"/>
              <a:t>HDS High-Performance AC PM Servo Motor Data Sheet</a:t>
            </a:r>
            <a:r>
              <a:rPr lang="en" sz="1100"/>
              <a:t>, version 02/21, 44-page PDF. [Online]. Available:</a:t>
            </a:r>
            <a:r>
              <a:rPr lang="en" sz="1100">
                <a:uFill>
                  <a:noFill/>
                </a:uFill>
                <a:hlinkClick r:id="rId5"/>
              </a:rPr>
              <a:t> </a:t>
            </a:r>
            <a:r>
              <a:rPr lang="en" sz="1100" u="sng">
                <a:solidFill>
                  <a:schemeClr val="hlink"/>
                </a:solidFill>
                <a:hlinkClick r:id="rId6"/>
              </a:rPr>
              <a:t>https://www.baldor.com/mvc/DownloadCenter/Files/9AKK107304</a:t>
            </a:r>
            <a:endParaRPr sz="1200">
              <a:solidFill>
                <a:schemeClr val="lt1"/>
              </a:solidFill>
              <a:latin typeface="Sora"/>
              <a:ea typeface="Sora"/>
              <a:cs typeface="Sora"/>
              <a:sym typeface="Sora"/>
            </a:endParaRPr>
          </a:p>
          <a:p>
            <a:pPr indent="0" lvl="0" marL="0" rtl="0" algn="l">
              <a:lnSpc>
                <a:spcPct val="150000"/>
              </a:lnSpc>
              <a:spcBef>
                <a:spcPts val="0"/>
              </a:spcBef>
              <a:spcAft>
                <a:spcPts val="0"/>
              </a:spcAft>
              <a:buNone/>
            </a:pPr>
            <a:r>
              <a:rPr lang="en" sz="1100"/>
              <a:t>[3] Wolfram Research, Inc., “Moment of Inertia of a Cylinder,” Wolfram Formula Repository. [Online]. Available:</a:t>
            </a:r>
            <a:r>
              <a:rPr lang="en" sz="1100">
                <a:uFill>
                  <a:noFill/>
                </a:uFill>
                <a:hlinkClick r:id="rId7"/>
              </a:rPr>
              <a:t> </a:t>
            </a:r>
            <a:r>
              <a:rPr lang="en" sz="1100" u="sng">
                <a:solidFill>
                  <a:schemeClr val="hlink"/>
                </a:solidFill>
                <a:hlinkClick r:id="rId8"/>
              </a:rPr>
              <a:t>https://resources.wolframcloud.com/FormulaRepository/resources/Moment-of-Inertia-of-a-Cylinder</a:t>
            </a:r>
            <a:r>
              <a:rPr lang="en" sz="1100"/>
              <a:t> </a:t>
            </a:r>
            <a:endParaRPr sz="1100"/>
          </a:p>
          <a:p>
            <a:pPr indent="0" lvl="0" marL="0" rtl="0" algn="l">
              <a:lnSpc>
                <a:spcPct val="150000"/>
              </a:lnSpc>
              <a:spcBef>
                <a:spcPts val="0"/>
              </a:spcBef>
              <a:spcAft>
                <a:spcPts val="0"/>
              </a:spcAft>
              <a:buNone/>
            </a:pPr>
            <a:r>
              <a:rPr lang="en" sz="1100"/>
              <a:t>[4] SDP/SI, “Timing Belt Pulleys,” SDP/SI Products. [Online]. Available: https://sdp-si.com/products/Timing-Belt-Pulleys/index.php</a:t>
            </a:r>
            <a:endParaRPr sz="1100"/>
          </a:p>
          <a:p>
            <a:pPr indent="0" lvl="0" marL="0" rtl="0" algn="l">
              <a:lnSpc>
                <a:spcPct val="150000"/>
              </a:lnSpc>
              <a:spcBef>
                <a:spcPts val="0"/>
              </a:spcBef>
              <a:spcAft>
                <a:spcPts val="0"/>
              </a:spcAft>
              <a:buNone/>
            </a:pPr>
            <a:r>
              <a:rPr lang="en" sz="1100"/>
              <a:t>[5] OpenBuilds, “V-Slot NEMA 17 Linear Actuator Bundle (Belt-Driven),” OpenBuilds. [Online]. Available: https://us.openbuilds.com/v-slot-nema-17-linear-actuator-bundle-belt-driven/</a:t>
            </a:r>
            <a:endParaRPr sz="1100"/>
          </a:p>
          <a:p>
            <a:pPr indent="0" lvl="0" marL="0" rtl="0" algn="l">
              <a:lnSpc>
                <a:spcPct val="150000"/>
              </a:lnSpc>
              <a:spcBef>
                <a:spcPts val="0"/>
              </a:spcBef>
              <a:spcAft>
                <a:spcPts val="0"/>
              </a:spcAft>
              <a:buNone/>
            </a:pPr>
            <a:r>
              <a:rPr lang="en" sz="1100"/>
              <a:t>[6] CJ’s Machine &amp; Fab, “Custom Brackets and Mounts,” CJ’s Machine &amp; Fab. [Online]. Available: </a:t>
            </a:r>
            <a:r>
              <a:rPr lang="en" sz="1100" u="sng">
                <a:solidFill>
                  <a:schemeClr val="hlink"/>
                </a:solidFill>
                <a:hlinkClick r:id="rId9"/>
              </a:rPr>
              <a:t>https://www.cjsmachineandfab.com/custom-brackets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